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64" r:id="rId16"/>
    <p:sldId id="272" r:id="rId17"/>
    <p:sldId id="273" r:id="rId18"/>
    <p:sldId id="280" r:id="rId19"/>
    <p:sldId id="281" r:id="rId20"/>
    <p:sldId id="283" r:id="rId21"/>
    <p:sldId id="282" r:id="rId22"/>
    <p:sldId id="274" r:id="rId23"/>
    <p:sldId id="275" r:id="rId24"/>
    <p:sldId id="276" r:id="rId25"/>
    <p:sldId id="277" r:id="rId26"/>
    <p:sldId id="279" r:id="rId27"/>
    <p:sldId id="284" r:id="rId28"/>
    <p:sldId id="278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Lecture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 Engr. Amna Shaikh</a:t>
            </a:r>
          </a:p>
          <a:p>
            <a:r>
              <a:rPr lang="en-US" dirty="0" smtClean="0"/>
              <a:t>APPLIED PHYSICS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21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PHYSICS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Physics</a:t>
            </a:r>
            <a:r>
              <a:rPr lang="en-US" dirty="0"/>
              <a:t> is a fundamental branch of science that studies </a:t>
            </a:r>
            <a:r>
              <a:rPr lang="en-US" b="1" dirty="0"/>
              <a:t>matter, energy, space, time, and the interactions between them</a:t>
            </a:r>
            <a:r>
              <a:rPr lang="en-US" dirty="0"/>
              <a:t>. It seeks to understand </a:t>
            </a:r>
            <a:r>
              <a:rPr lang="en-US" b="1" dirty="0"/>
              <a:t>how the universe works</a:t>
            </a:r>
            <a:r>
              <a:rPr lang="en-US" dirty="0"/>
              <a:t>, from the smallest subatomic particles to the largest galaxies, using observation, experiments, and </a:t>
            </a:r>
            <a:r>
              <a:rPr lang="en-US" dirty="0" smtClean="0"/>
              <a:t>mathematical </a:t>
            </a:r>
            <a:r>
              <a:rPr lang="en-US" dirty="0"/>
              <a:t>models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75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Where Did Physics Emerge?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4577"/>
            <a:ext cx="8596668" cy="434678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Physics </a:t>
            </a:r>
            <a:r>
              <a:rPr lang="en-US" b="1" dirty="0"/>
              <a:t>emerged from natural philosophy</a:t>
            </a:r>
            <a:r>
              <a:rPr lang="en-US" dirty="0"/>
              <a:t> in ancient civilizations, where humans tried to understand natural phenomena such as motion, light, sound, heat, and the stars.</a:t>
            </a:r>
          </a:p>
          <a:p>
            <a:r>
              <a:rPr lang="en-US" b="1" dirty="0"/>
              <a:t>Historical development: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Ancient civilizations</a:t>
            </a:r>
            <a:r>
              <a:rPr lang="en-US" dirty="0"/>
              <a:t> (Greek, Egyptian, Indian, Chinese): Early ideas about motion, atoms, and astronomy</a:t>
            </a:r>
          </a:p>
          <a:p>
            <a:pPr marL="457200" lvl="1" indent="0">
              <a:buNone/>
            </a:pPr>
            <a:r>
              <a:rPr lang="en-US" dirty="0"/>
              <a:t>Example: </a:t>
            </a:r>
            <a:r>
              <a:rPr lang="en-US" b="1" dirty="0"/>
              <a:t>Aristotle</a:t>
            </a:r>
            <a:r>
              <a:rPr lang="en-US" dirty="0"/>
              <a:t> (motion and matter)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Islamic Golden Age</a:t>
            </a:r>
            <a:r>
              <a:rPr lang="en-US" dirty="0"/>
              <a:t>: Experimental methods and optics</a:t>
            </a:r>
          </a:p>
          <a:p>
            <a:pPr marL="457200" lvl="1" indent="0">
              <a:buNone/>
            </a:pPr>
            <a:r>
              <a:rPr lang="en-US" dirty="0"/>
              <a:t>Example: </a:t>
            </a:r>
            <a:r>
              <a:rPr lang="en-US" b="1" dirty="0"/>
              <a:t>Ibn </a:t>
            </a:r>
            <a:r>
              <a:rPr lang="en-US" b="1" dirty="0" err="1"/>
              <a:t>al-Haytham</a:t>
            </a:r>
            <a:r>
              <a:rPr lang="en-US" dirty="0"/>
              <a:t> (optics and scientific experimentation)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Classical era (17th century)</a:t>
            </a:r>
            <a:r>
              <a:rPr lang="en-US" dirty="0"/>
              <a:t>: Physics became a formal science</a:t>
            </a:r>
          </a:p>
          <a:p>
            <a:pPr marL="457200" lvl="1" indent="0">
              <a:buNone/>
            </a:pPr>
            <a:r>
              <a:rPr lang="en-US" dirty="0"/>
              <a:t>Example: </a:t>
            </a:r>
            <a:r>
              <a:rPr lang="en-US" b="1" dirty="0"/>
              <a:t>Isaac Newton</a:t>
            </a:r>
            <a:r>
              <a:rPr lang="en-US" dirty="0"/>
              <a:t> (laws of motion and gravitation)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Modern era (19th–20th century)</a:t>
            </a:r>
            <a:r>
              <a:rPr lang="en-US" dirty="0"/>
              <a:t>: Expansion into electromagnetism, relativity, and quantum mechanics</a:t>
            </a:r>
          </a:p>
          <a:p>
            <a:pPr marL="457200" lvl="1" indent="0">
              <a:buNone/>
            </a:pPr>
            <a:r>
              <a:rPr lang="en-US" dirty="0"/>
              <a:t>Example: </a:t>
            </a:r>
            <a:r>
              <a:rPr lang="en-US" b="1" dirty="0"/>
              <a:t>Einstein</a:t>
            </a:r>
            <a:r>
              <a:rPr lang="en-US" dirty="0"/>
              <a:t>, </a:t>
            </a:r>
            <a:r>
              <a:rPr lang="en-US" b="1" dirty="0"/>
              <a:t>Maxwell</a:t>
            </a:r>
            <a:r>
              <a:rPr lang="en-US" dirty="0"/>
              <a:t>, </a:t>
            </a:r>
            <a:r>
              <a:rPr lang="en-US" b="1" dirty="0"/>
              <a:t>Planck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Thus, physics evolved as humans sought </a:t>
            </a:r>
            <a:r>
              <a:rPr lang="en-US" b="1" dirty="0"/>
              <a:t>systematic and mathematical explanations of nature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185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(Branches) of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Physics is broadly divided into </a:t>
            </a:r>
            <a:r>
              <a:rPr lang="en-US" b="1" dirty="0"/>
              <a:t>two main categories</a:t>
            </a:r>
            <a:r>
              <a:rPr lang="en-US" dirty="0"/>
              <a:t>, with several </a:t>
            </a:r>
            <a:r>
              <a:rPr lang="en-US" dirty="0" smtClean="0"/>
              <a:t>sub-branches:</a:t>
            </a:r>
          </a:p>
          <a:p>
            <a:pPr marL="0" indent="0">
              <a:buNone/>
            </a:pPr>
            <a:r>
              <a:rPr lang="en-US" b="1" dirty="0" smtClean="0"/>
              <a:t>1</a:t>
            </a:r>
            <a:r>
              <a:rPr lang="en-US" b="1" dirty="0"/>
              <a:t>. Classical Physics</a:t>
            </a:r>
          </a:p>
          <a:p>
            <a:pPr marL="0" indent="0">
              <a:buNone/>
            </a:pPr>
            <a:r>
              <a:rPr lang="en-US" dirty="0"/>
              <a:t>Deals with macroscopic objects and low speeds.</a:t>
            </a:r>
          </a:p>
          <a:p>
            <a:r>
              <a:rPr lang="en-US" b="1" dirty="0"/>
              <a:t>Mechanics</a:t>
            </a:r>
            <a:r>
              <a:rPr lang="en-US" dirty="0"/>
              <a:t> – Motion and forces</a:t>
            </a:r>
          </a:p>
          <a:p>
            <a:r>
              <a:rPr lang="en-US" b="1" dirty="0"/>
              <a:t>Thermodynamics</a:t>
            </a:r>
            <a:r>
              <a:rPr lang="en-US" dirty="0"/>
              <a:t> – Heat and energy</a:t>
            </a:r>
          </a:p>
          <a:p>
            <a:r>
              <a:rPr lang="en-US" b="1" dirty="0"/>
              <a:t>Waves and Acoustics</a:t>
            </a:r>
            <a:r>
              <a:rPr lang="en-US" dirty="0"/>
              <a:t> – Sound and vibrations</a:t>
            </a:r>
          </a:p>
          <a:p>
            <a:r>
              <a:rPr lang="en-US" b="1" dirty="0"/>
              <a:t>Optics</a:t>
            </a:r>
            <a:r>
              <a:rPr lang="en-US" dirty="0"/>
              <a:t> – Light and vision</a:t>
            </a:r>
          </a:p>
          <a:p>
            <a:r>
              <a:rPr lang="en-US" b="1" dirty="0"/>
              <a:t>Electromagnetism</a:t>
            </a:r>
            <a:r>
              <a:rPr lang="en-US" dirty="0"/>
              <a:t> – Electricity and magnetism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644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7799"/>
            <a:ext cx="8596668" cy="4363564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2. Modern </a:t>
            </a:r>
            <a:r>
              <a:rPr lang="en-US" b="1" dirty="0"/>
              <a:t>Physics</a:t>
            </a:r>
          </a:p>
          <a:p>
            <a:pPr marL="0" indent="0">
              <a:buNone/>
            </a:pPr>
            <a:r>
              <a:rPr lang="en-US" dirty="0"/>
              <a:t>Deals with microscopic and high-speed phenomena.</a:t>
            </a:r>
          </a:p>
          <a:p>
            <a:r>
              <a:rPr lang="en-US" b="1" dirty="0"/>
              <a:t>Quantum Mechanics</a:t>
            </a:r>
            <a:r>
              <a:rPr lang="en-US" dirty="0"/>
              <a:t> – Atomic and subatomic particles</a:t>
            </a:r>
          </a:p>
          <a:p>
            <a:r>
              <a:rPr lang="en-US" b="1" dirty="0"/>
              <a:t>Relativity</a:t>
            </a:r>
            <a:r>
              <a:rPr lang="en-US" dirty="0"/>
              <a:t> – Space, time, and gravity at high speeds</a:t>
            </a:r>
          </a:p>
          <a:p>
            <a:r>
              <a:rPr lang="en-US" b="1" dirty="0"/>
              <a:t>Atomic Physics</a:t>
            </a:r>
            <a:endParaRPr lang="en-US" dirty="0"/>
          </a:p>
          <a:p>
            <a:r>
              <a:rPr lang="en-US" b="1" dirty="0"/>
              <a:t>Nuclear Physics</a:t>
            </a:r>
            <a:endParaRPr lang="en-US" dirty="0"/>
          </a:p>
          <a:p>
            <a:r>
              <a:rPr lang="en-US" b="1" dirty="0"/>
              <a:t>Particle Physics</a:t>
            </a:r>
            <a:endParaRPr lang="en-US" dirty="0"/>
          </a:p>
          <a:p>
            <a:r>
              <a:rPr lang="en-US" b="1" dirty="0"/>
              <a:t>Solid State / Condensed Matter Physics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74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Applied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Applied physics focuses on </a:t>
            </a:r>
            <a:r>
              <a:rPr lang="en-US" b="1" dirty="0"/>
              <a:t>using physical principles to analyze and solve real-world problems</a:t>
            </a:r>
            <a:r>
              <a:rPr lang="en-US" dirty="0"/>
              <a:t>. It is not separate from physics; rather, it </a:t>
            </a:r>
            <a:r>
              <a:rPr lang="en-US" b="1" dirty="0"/>
              <a:t>draws from both classical and modern physics</a:t>
            </a:r>
            <a:r>
              <a:rPr lang="en-US" dirty="0"/>
              <a:t> depending on the system under study.</a:t>
            </a:r>
          </a:p>
          <a:p>
            <a:pPr algn="just"/>
            <a:r>
              <a:rPr lang="en-US" dirty="0"/>
              <a:t>Systems governed by </a:t>
            </a:r>
            <a:r>
              <a:rPr lang="en-US" b="1" dirty="0"/>
              <a:t>mechanics, waves, thermodynamics, and electromagnetism</a:t>
            </a:r>
            <a:r>
              <a:rPr lang="en-US" dirty="0"/>
              <a:t> rely on classical physics.</a:t>
            </a:r>
          </a:p>
          <a:p>
            <a:pPr algn="just"/>
            <a:r>
              <a:rPr lang="en-US" dirty="0"/>
              <a:t>Systems involving </a:t>
            </a:r>
            <a:r>
              <a:rPr lang="en-US" b="1" dirty="0"/>
              <a:t>atomic structure, radiation, electronic materials, and spectroscopy</a:t>
            </a:r>
            <a:r>
              <a:rPr lang="en-US" dirty="0"/>
              <a:t> rely on modern physics.</a:t>
            </a:r>
          </a:p>
          <a:p>
            <a:pPr marL="0" indent="0" algn="just">
              <a:buNone/>
            </a:pPr>
            <a:r>
              <a:rPr lang="en-US" dirty="0"/>
              <a:t>Thus, applied physics acts as a </a:t>
            </a:r>
            <a:r>
              <a:rPr lang="en-US" b="1" dirty="0"/>
              <a:t>link between theory and practical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4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059" y="1313212"/>
            <a:ext cx="9400116" cy="4573238"/>
          </a:xfrm>
        </p:spPr>
        <p:txBody>
          <a:bodyPr>
            <a:normAutofit/>
          </a:bodyPr>
          <a:lstStyle/>
          <a:p>
            <a:r>
              <a:rPr lang="en-US" dirty="0"/>
              <a:t>Why do bridges not collapse under load</a:t>
            </a:r>
            <a:r>
              <a:rPr lang="en-US" dirty="0" smtClean="0"/>
              <a:t>?</a:t>
            </a:r>
          </a:p>
          <a:p>
            <a:r>
              <a:rPr lang="en-US" dirty="0" smtClean="0"/>
              <a:t>Why </a:t>
            </a:r>
            <a:r>
              <a:rPr lang="en-US" dirty="0"/>
              <a:t>does a ruler bend but not break</a:t>
            </a:r>
            <a:r>
              <a:rPr lang="en-US" dirty="0" smtClean="0"/>
              <a:t>?</a:t>
            </a:r>
          </a:p>
          <a:p>
            <a:r>
              <a:rPr lang="en-US" dirty="0" smtClean="0"/>
              <a:t>Why are prosthetics designed using specific materials?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Ans</a:t>
            </a:r>
            <a:r>
              <a:rPr lang="en-US" dirty="0" smtClean="0"/>
              <a:t>: Properties of matter describe how materials respond when forces act on them.</a:t>
            </a:r>
            <a:endParaRPr lang="en-US" dirty="0"/>
          </a:p>
        </p:txBody>
      </p:sp>
      <p:pic>
        <p:nvPicPr>
          <p:cNvPr id="10" name="Picture 7" descr="The Forth Bridge | UNESCO in the U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5" y="3198549"/>
            <a:ext cx="3835400" cy="115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Regle 15 Cm Plastic Straight Ruler Bendable Soft Flexible Student Ruler  Pembaris 15cm 30cm 6&quot; 12&quot; Inch | Malaysia 30cm Clear Rul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459" y="3013662"/>
            <a:ext cx="1796440" cy="152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100 years of prosthesis: How war amputees have driven design innovation -  ABC New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368" y="3180316"/>
            <a:ext cx="2421228" cy="136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54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85801"/>
            <a:ext cx="8596668" cy="535556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Properties of matter</a:t>
            </a:r>
            <a:r>
              <a:rPr lang="en-US" dirty="0"/>
              <a:t> describe how a material </a:t>
            </a:r>
            <a:r>
              <a:rPr lang="en-US" b="1" dirty="0"/>
              <a:t>behaves when forces, heat, electricity, or light act on it</a:t>
            </a:r>
            <a:r>
              <a:rPr lang="en-US" dirty="0"/>
              <a:t>.</a:t>
            </a:r>
          </a:p>
          <a:p>
            <a:r>
              <a:rPr lang="en-US" b="1" dirty="0"/>
              <a:t>Classification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Mechanical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Physical</a:t>
            </a:r>
            <a:r>
              <a:rPr lang="en-US" dirty="0" smtClean="0"/>
              <a:t> 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Thermal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Electrical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Magnetic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Optical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Chemical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3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Properties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318066"/>
              </p:ext>
            </p:extLst>
          </p:nvPr>
        </p:nvGraphicFramePr>
        <p:xfrm>
          <a:off x="985152" y="1548141"/>
          <a:ext cx="8448558" cy="42460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6186">
                  <a:extLst>
                    <a:ext uri="{9D8B030D-6E8A-4147-A177-3AD203B41FA5}">
                      <a16:colId xmlns:a16="http://schemas.microsoft.com/office/drawing/2014/main" val="3265004321"/>
                    </a:ext>
                  </a:extLst>
                </a:gridCol>
                <a:gridCol w="2816186">
                  <a:extLst>
                    <a:ext uri="{9D8B030D-6E8A-4147-A177-3AD203B41FA5}">
                      <a16:colId xmlns:a16="http://schemas.microsoft.com/office/drawing/2014/main" val="920507378"/>
                    </a:ext>
                  </a:extLst>
                </a:gridCol>
                <a:gridCol w="2816186">
                  <a:extLst>
                    <a:ext uri="{9D8B030D-6E8A-4147-A177-3AD203B41FA5}">
                      <a16:colId xmlns:a16="http://schemas.microsoft.com/office/drawing/2014/main" val="2464878561"/>
                    </a:ext>
                  </a:extLst>
                </a:gridCol>
              </a:tblGrid>
              <a:tr h="353726">
                <a:tc>
                  <a:txBody>
                    <a:bodyPr/>
                    <a:lstStyle/>
                    <a:p>
                      <a:r>
                        <a:rPr lang="en-US" sz="1600" b="1"/>
                        <a:t>Physical Property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Meaning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Example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171593575"/>
                  </a:ext>
                </a:extLst>
              </a:tr>
              <a:tr h="353726">
                <a:tc>
                  <a:txBody>
                    <a:bodyPr/>
                    <a:lstStyle/>
                    <a:p>
                      <a:r>
                        <a:rPr lang="en-US" sz="1600"/>
                        <a:t>Density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Mass per unit volume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Iron is denser than wood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808383735"/>
                  </a:ext>
                </a:extLst>
              </a:tr>
              <a:tr h="353726">
                <a:tc>
                  <a:txBody>
                    <a:bodyPr/>
                    <a:lstStyle/>
                    <a:p>
                      <a:r>
                        <a:rPr lang="en-US" sz="1600"/>
                        <a:t>Color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Visual appearance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Copper is reddish-brown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1450507139"/>
                  </a:ext>
                </a:extLst>
              </a:tr>
              <a:tr h="619361">
                <a:tc>
                  <a:txBody>
                    <a:bodyPr/>
                    <a:lstStyle/>
                    <a:p>
                      <a:r>
                        <a:rPr lang="en-US" sz="1600" dirty="0"/>
                        <a:t>State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Solid, liquid, gas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Water → ice / liquid / steam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850929157"/>
                  </a:ext>
                </a:extLst>
              </a:tr>
              <a:tr h="619361">
                <a:tc>
                  <a:txBody>
                    <a:bodyPr/>
                    <a:lstStyle/>
                    <a:p>
                      <a:r>
                        <a:rPr lang="en-US" sz="1600"/>
                        <a:t>Melting Point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Temperature at which solid melts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Ice melts at 0°C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644791103"/>
                  </a:ext>
                </a:extLst>
              </a:tr>
              <a:tr h="619361">
                <a:tc>
                  <a:txBody>
                    <a:bodyPr/>
                    <a:lstStyle/>
                    <a:p>
                      <a:r>
                        <a:rPr lang="en-US" sz="1600"/>
                        <a:t>Boiling Point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Temperature at which liquid boils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Water boils at 100°C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1677695103"/>
                  </a:ext>
                </a:extLst>
              </a:tr>
              <a:tr h="619361">
                <a:tc>
                  <a:txBody>
                    <a:bodyPr/>
                    <a:lstStyle/>
                    <a:p>
                      <a:r>
                        <a:rPr lang="en-US" sz="1600"/>
                        <a:t>Electrical Conductivity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Ability to conduct electricity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Copper conducts electricity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413377727"/>
                  </a:ext>
                </a:extLst>
              </a:tr>
              <a:tr h="353726">
                <a:tc>
                  <a:txBody>
                    <a:bodyPr/>
                    <a:lstStyle/>
                    <a:p>
                      <a:r>
                        <a:rPr lang="en-US" sz="1600"/>
                        <a:t>Thermal Conductivity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Ability to conduct heat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Metals conduct heat well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957051935"/>
                  </a:ext>
                </a:extLst>
              </a:tr>
              <a:tr h="353726">
                <a:tc>
                  <a:txBody>
                    <a:bodyPr/>
                    <a:lstStyle/>
                    <a:p>
                      <a:r>
                        <a:rPr lang="en-US" sz="1600"/>
                        <a:t>Solubility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Ability to dissolve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Salt dissolves in water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339346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44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Thermal Property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215997"/>
              </p:ext>
            </p:extLst>
          </p:nvPr>
        </p:nvGraphicFramePr>
        <p:xfrm>
          <a:off x="677334" y="1723411"/>
          <a:ext cx="8683950" cy="3735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4650">
                  <a:extLst>
                    <a:ext uri="{9D8B030D-6E8A-4147-A177-3AD203B41FA5}">
                      <a16:colId xmlns:a16="http://schemas.microsoft.com/office/drawing/2014/main" val="136351699"/>
                    </a:ext>
                  </a:extLst>
                </a:gridCol>
                <a:gridCol w="2894650">
                  <a:extLst>
                    <a:ext uri="{9D8B030D-6E8A-4147-A177-3AD203B41FA5}">
                      <a16:colId xmlns:a16="http://schemas.microsoft.com/office/drawing/2014/main" val="3770260887"/>
                    </a:ext>
                  </a:extLst>
                </a:gridCol>
                <a:gridCol w="2894650">
                  <a:extLst>
                    <a:ext uri="{9D8B030D-6E8A-4147-A177-3AD203B41FA5}">
                      <a16:colId xmlns:a16="http://schemas.microsoft.com/office/drawing/2014/main" val="998368590"/>
                    </a:ext>
                  </a:extLst>
                </a:gridCol>
              </a:tblGrid>
              <a:tr h="452828">
                <a:tc>
                  <a:txBody>
                    <a:bodyPr/>
                    <a:lstStyle/>
                    <a:p>
                      <a:r>
                        <a:rPr lang="en-US" b="1"/>
                        <a:t>Thermal 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066342"/>
                  </a:ext>
                </a:extLst>
              </a:tr>
              <a:tr h="452828">
                <a:tc>
                  <a:txBody>
                    <a:bodyPr/>
                    <a:lstStyle/>
                    <a:p>
                      <a:r>
                        <a:rPr lang="en-US"/>
                        <a:t>Thermal Conductivity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conduct heat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770217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r>
                        <a:rPr lang="en-US"/>
                        <a:t>Heat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Heat required to raise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637022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r>
                        <a:rPr lang="en-US"/>
                        <a:t>Thermal Expansion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Change in size with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Railway tracks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931729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r>
                        <a:rPr lang="en-US"/>
                        <a:t>Specific Heat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Heat required per unit mass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Aluminum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543414"/>
                  </a:ext>
                </a:extLst>
              </a:tr>
              <a:tr h="452828">
                <a:tc>
                  <a:txBody>
                    <a:bodyPr/>
                    <a:lstStyle/>
                    <a:p>
                      <a:r>
                        <a:rPr lang="en-US"/>
                        <a:t>Thermal 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Resistance to heat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Insulating materials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616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955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Properties of Matter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118052"/>
              </p:ext>
            </p:extLst>
          </p:nvPr>
        </p:nvGraphicFramePr>
        <p:xfrm>
          <a:off x="677863" y="2037030"/>
          <a:ext cx="8596311" cy="37101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323055236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89574341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683143589"/>
                    </a:ext>
                  </a:extLst>
                </a:gridCol>
              </a:tblGrid>
              <a:tr h="412244">
                <a:tc>
                  <a:txBody>
                    <a:bodyPr/>
                    <a:lstStyle/>
                    <a:p>
                      <a:r>
                        <a:rPr lang="en-US" b="1" dirty="0"/>
                        <a:t>Electrical 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492803"/>
                  </a:ext>
                </a:extLst>
              </a:tr>
              <a:tr h="721427">
                <a:tc>
                  <a:txBody>
                    <a:bodyPr/>
                    <a:lstStyle/>
                    <a:p>
                      <a:r>
                        <a:rPr lang="en-US"/>
                        <a:t>Electrical Conductivity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conduct electric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Copper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736620"/>
                  </a:ext>
                </a:extLst>
              </a:tr>
              <a:tr h="721427">
                <a:tc>
                  <a:txBody>
                    <a:bodyPr/>
                    <a:lstStyle/>
                    <a:p>
                      <a:r>
                        <a:rPr lang="en-US"/>
                        <a:t>Resistivity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Resistance to electric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Rubber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73219"/>
                  </a:ext>
                </a:extLst>
              </a:tr>
              <a:tr h="721427">
                <a:tc>
                  <a:txBody>
                    <a:bodyPr/>
                    <a:lstStyle/>
                    <a:p>
                      <a:r>
                        <a:rPr lang="en-US"/>
                        <a:t>Dielectric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withstand electric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Insulators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671629"/>
                  </a:ext>
                </a:extLst>
              </a:tr>
              <a:tr h="721427">
                <a:tc>
                  <a:txBody>
                    <a:bodyPr/>
                    <a:lstStyle/>
                    <a:p>
                      <a:r>
                        <a:rPr lang="en-US"/>
                        <a:t>Permittivity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store electric charge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198000"/>
                  </a:ext>
                </a:extLst>
              </a:tr>
              <a:tr h="412244">
                <a:tc>
                  <a:txBody>
                    <a:bodyPr/>
                    <a:lstStyle/>
                    <a:p>
                      <a:r>
                        <a:rPr lang="en-US"/>
                        <a:t>Semiconductivity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 conductivity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Silicon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131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8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Properties of Matter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647961"/>
              </p:ext>
            </p:extLst>
          </p:nvPr>
        </p:nvGraphicFramePr>
        <p:xfrm>
          <a:off x="677863" y="1837852"/>
          <a:ext cx="8596311" cy="3909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160720783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99636107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403778191"/>
                    </a:ext>
                  </a:extLst>
                </a:gridCol>
              </a:tblGrid>
              <a:tr h="434375">
                <a:tc>
                  <a:txBody>
                    <a:bodyPr/>
                    <a:lstStyle/>
                    <a:p>
                      <a:r>
                        <a:rPr lang="en-US" b="1"/>
                        <a:t>Magnetic 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836239"/>
                  </a:ext>
                </a:extLst>
              </a:tr>
              <a:tr h="760156">
                <a:tc>
                  <a:txBody>
                    <a:bodyPr/>
                    <a:lstStyle/>
                    <a:p>
                      <a:r>
                        <a:rPr lang="en-US"/>
                        <a:t>Diamagnetism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 repulsion by magnetic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Copper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728958"/>
                  </a:ext>
                </a:extLst>
              </a:tr>
              <a:tr h="760156">
                <a:tc>
                  <a:txBody>
                    <a:bodyPr/>
                    <a:lstStyle/>
                    <a:p>
                      <a:r>
                        <a:rPr lang="en-US"/>
                        <a:t>Paramagnetism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 attraction by magnetic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Aluminum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819517"/>
                  </a:ext>
                </a:extLst>
              </a:tr>
              <a:tr h="434375">
                <a:tc>
                  <a:txBody>
                    <a:bodyPr/>
                    <a:lstStyle/>
                    <a:p>
                      <a:r>
                        <a:rPr lang="en-US"/>
                        <a:t>Ferromagnetism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 attraction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Iron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47985"/>
                  </a:ext>
                </a:extLst>
              </a:tr>
              <a:tr h="760156">
                <a:tc>
                  <a:txBody>
                    <a:bodyPr/>
                    <a:lstStyle/>
                    <a:p>
                      <a:r>
                        <a:rPr lang="en-US"/>
                        <a:t>Magnetic Permeability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support magnetic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Iron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94681"/>
                  </a:ext>
                </a:extLst>
              </a:tr>
              <a:tr h="760156">
                <a:tc>
                  <a:txBody>
                    <a:bodyPr/>
                    <a:lstStyle/>
                    <a:p>
                      <a:r>
                        <a:rPr lang="en-US"/>
                        <a:t>Hysteresis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Lag between magnetization &amp;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689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37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Properties of Matter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933914"/>
              </p:ext>
            </p:extLst>
          </p:nvPr>
        </p:nvGraphicFramePr>
        <p:xfrm>
          <a:off x="677863" y="1819745"/>
          <a:ext cx="8596311" cy="36988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81707281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32209161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513758967"/>
                    </a:ext>
                  </a:extLst>
                </a:gridCol>
              </a:tblGrid>
              <a:tr h="477275">
                <a:tc>
                  <a:txBody>
                    <a:bodyPr/>
                    <a:lstStyle/>
                    <a:p>
                      <a:r>
                        <a:rPr lang="en-US" b="1"/>
                        <a:t>Optical 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912717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r>
                        <a:rPr lang="en-US"/>
                        <a:t>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Bouncing back of 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34290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r>
                        <a:rPr lang="en-US"/>
                        <a:t>Refraction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Bending of 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Glass prism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949017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r>
                        <a:rPr lang="en-US"/>
                        <a:t>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Light energy absorbed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Black surface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603163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r>
                        <a:rPr lang="en-US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Allows light to 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48830"/>
                  </a:ext>
                </a:extLst>
              </a:tr>
              <a:tr h="477275">
                <a:tc>
                  <a:txBody>
                    <a:bodyPr/>
                    <a:lstStyle/>
                    <a:p>
                      <a:r>
                        <a:rPr lang="en-US"/>
                        <a:t>Opacity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Blocks 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49385"/>
                  </a:ext>
                </a:extLst>
              </a:tr>
              <a:tr h="835231">
                <a:tc>
                  <a:txBody>
                    <a:bodyPr/>
                    <a:lstStyle/>
                    <a:p>
                      <a:r>
                        <a:rPr lang="en-US"/>
                        <a:t>Refractive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change of light in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Optical fibers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681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245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Properties of Matter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712956"/>
              </p:ext>
            </p:extLst>
          </p:nvPr>
        </p:nvGraphicFramePr>
        <p:xfrm>
          <a:off x="677863" y="1930401"/>
          <a:ext cx="8596311" cy="3679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04890389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66926814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545272358"/>
                    </a:ext>
                  </a:extLst>
                </a:gridCol>
              </a:tblGrid>
              <a:tr h="446020">
                <a:tc>
                  <a:txBody>
                    <a:bodyPr/>
                    <a:lstStyle/>
                    <a:p>
                      <a:r>
                        <a:rPr lang="en-US" b="1"/>
                        <a:t>Chemical 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246819"/>
                  </a:ext>
                </a:extLst>
              </a:tr>
              <a:tr h="780535">
                <a:tc>
                  <a:txBody>
                    <a:bodyPr/>
                    <a:lstStyle/>
                    <a:p>
                      <a:r>
                        <a:rPr lang="en-US"/>
                        <a:t>Corrosion 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Resistance to chemical damage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Stainless steel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813913"/>
                  </a:ext>
                </a:extLst>
              </a:tr>
              <a:tr h="446020">
                <a:tc>
                  <a:txBody>
                    <a:bodyPr/>
                    <a:lstStyle/>
                    <a:p>
                      <a:r>
                        <a:rPr lang="en-US"/>
                        <a:t>Oxidation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Reaction with oxygen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699019"/>
                  </a:ext>
                </a:extLst>
              </a:tr>
              <a:tr h="780535">
                <a:tc>
                  <a:txBody>
                    <a:bodyPr/>
                    <a:lstStyle/>
                    <a:p>
                      <a:r>
                        <a:rPr lang="en-US"/>
                        <a:t>Reactivity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Tendency to react chemically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050814"/>
                  </a:ext>
                </a:extLst>
              </a:tr>
              <a:tr h="446020">
                <a:tc>
                  <a:txBody>
                    <a:bodyPr/>
                    <a:lstStyle/>
                    <a:p>
                      <a:r>
                        <a:rPr lang="en-US"/>
                        <a:t>Flammability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Ability to catch fire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6877"/>
                  </a:ext>
                </a:extLst>
              </a:tr>
              <a:tr h="780535">
                <a:tc>
                  <a:txBody>
                    <a:bodyPr/>
                    <a:lstStyle/>
                    <a:p>
                      <a:r>
                        <a:rPr lang="en-US"/>
                        <a:t>Chemical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Resistance to decomposition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99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33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Mechanical Properties</a:t>
            </a:r>
            <a:endParaRPr lang="en-US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948898"/>
              </p:ext>
            </p:extLst>
          </p:nvPr>
        </p:nvGraphicFramePr>
        <p:xfrm>
          <a:off x="1003259" y="1502872"/>
          <a:ext cx="8475720" cy="44486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5240">
                  <a:extLst>
                    <a:ext uri="{9D8B030D-6E8A-4147-A177-3AD203B41FA5}">
                      <a16:colId xmlns:a16="http://schemas.microsoft.com/office/drawing/2014/main" val="1653842530"/>
                    </a:ext>
                  </a:extLst>
                </a:gridCol>
                <a:gridCol w="2825240">
                  <a:extLst>
                    <a:ext uri="{9D8B030D-6E8A-4147-A177-3AD203B41FA5}">
                      <a16:colId xmlns:a16="http://schemas.microsoft.com/office/drawing/2014/main" val="3021111015"/>
                    </a:ext>
                  </a:extLst>
                </a:gridCol>
                <a:gridCol w="2825240">
                  <a:extLst>
                    <a:ext uri="{9D8B030D-6E8A-4147-A177-3AD203B41FA5}">
                      <a16:colId xmlns:a16="http://schemas.microsoft.com/office/drawing/2014/main" val="1601731090"/>
                    </a:ext>
                  </a:extLst>
                </a:gridCol>
              </a:tblGrid>
              <a:tr h="26559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/>
                        <a:t>Mechanical Property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/>
                        <a:t>Meaning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/>
                        <a:t>Example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456325901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Elasticity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Ability to regain original shape after deformation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Steel spring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3148328295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Plasticity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Ability to undergo permanent deformation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Clay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2820643350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Strength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Ability to withstand applied load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Structural steel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375222573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Stiffness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Resistance to deformation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Bone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282118535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Ductility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Ability to be drawn into wires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Copper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919155995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Malleability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Ability to be hammered into sheets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Gold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147899972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Hardness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Resistance to scratching or indentation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Diamond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1266596660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Toughness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Ability to absorb energy before fracture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Rubber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229283769"/>
                  </a:ext>
                </a:extLst>
              </a:tr>
              <a:tr h="46478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Brittleness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Tendency to break without deformation</a:t>
                      </a:r>
                    </a:p>
                  </a:txBody>
                  <a:tcPr marL="57932" marR="57932" marT="28966" marB="2896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Glass</a:t>
                      </a:r>
                    </a:p>
                  </a:txBody>
                  <a:tcPr marL="57932" marR="57932" marT="28966" marB="28966" anchor="ctr"/>
                </a:tc>
                <a:extLst>
                  <a:ext uri="{0D108BD9-81ED-4DB2-BD59-A6C34878D82A}">
                    <a16:rowId xmlns:a16="http://schemas.microsoft.com/office/drawing/2014/main" val="63450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974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Summary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52400"/>
              </p:ext>
            </p:extLst>
          </p:nvPr>
        </p:nvGraphicFramePr>
        <p:xfrm>
          <a:off x="677863" y="1930402"/>
          <a:ext cx="8596312" cy="3633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32771415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140053429"/>
                    </a:ext>
                  </a:extLst>
                </a:gridCol>
              </a:tblGrid>
              <a:tr h="45424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Property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Key 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65337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/>
                        <a:t>Mechanical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Behavior under force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22710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/>
                        <a:t>Physical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Observable characteristics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930908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/>
                        <a:t>Thermal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Response to heat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247470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/>
                        <a:t>Electrical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Response to electric field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073649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/>
                        <a:t>Magnetic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Response to magnetic field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042636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/>
                        <a:t>Optical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Interaction with light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799001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/>
                        <a:t>Chemical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Reaction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871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92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Elasticity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24" y="1930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Elasticity </a:t>
            </a:r>
            <a:r>
              <a:rPr lang="en-US" dirty="0"/>
              <a:t>is the ability of a material to return to its original shape after the removal of an applied force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Key Points: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Deformation </a:t>
            </a:r>
            <a:r>
              <a:rPr lang="en-US" dirty="0"/>
              <a:t>occurs due to </a:t>
            </a:r>
            <a:r>
              <a:rPr lang="en-US" dirty="0" smtClean="0"/>
              <a:t>force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Shape </a:t>
            </a:r>
            <a:r>
              <a:rPr lang="en-US" dirty="0"/>
              <a:t>recovers when force is </a:t>
            </a:r>
            <a:r>
              <a:rPr lang="en-US" dirty="0" smtClean="0"/>
              <a:t>removed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Valid </a:t>
            </a:r>
            <a:r>
              <a:rPr lang="en-US" dirty="0"/>
              <a:t>within elastic </a:t>
            </a:r>
            <a:r>
              <a:rPr lang="en-US" dirty="0" smtClean="0"/>
              <a:t>limit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Takeaway: Elastic </a:t>
            </a:r>
            <a:r>
              <a:rPr lang="en-US" dirty="0"/>
              <a:t>materials store energy temporarily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221" y="2804258"/>
            <a:ext cx="3498060" cy="196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8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Hook’s Law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9872" y="1557779"/>
            <a:ext cx="927159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Definition:</a:t>
            </a:r>
            <a:r>
              <a:rPr lang="en-US" altLang="en-US" dirty="0">
                <a:solidFill>
                  <a:schemeClr val="tx1"/>
                </a:solidFill>
              </a:rPr>
              <a:t/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Hooke’s Law states that, within the elastic limit, the deformation (stretch or compression) of a body is directly proportional to the applied force.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In simple words: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“Stretch a spring a little → it stretches proportionally. Pull twice as hard → it stretches twice as much</a:t>
            </a:r>
            <a:r>
              <a:rPr lang="en-US" altLang="en-US" dirty="0" smtClean="0">
                <a:solidFill>
                  <a:schemeClr val="tx1"/>
                </a:solidFill>
              </a:rPr>
              <a:t>.”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 smtClean="0">
              <a:solidFill>
                <a:schemeClr val="tx1"/>
              </a:solidFill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smtClean="0">
                <a:solidFill>
                  <a:schemeClr val="tx1"/>
                </a:solidFill>
              </a:rPr>
              <a:t>Formula: </a:t>
            </a:r>
            <a:endParaRPr lang="en-US" altLang="en-US" b="1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06" y="4004602"/>
            <a:ext cx="5344271" cy="16290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5554" y="58941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Elastic Limit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Hooke’s Law is valid only up to the elastic limit.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Beyond that, the material may permanently deform (plastic deformation).</a:t>
            </a:r>
          </a:p>
        </p:txBody>
      </p:sp>
    </p:spTree>
    <p:extLst>
      <p:ext uri="{BB962C8B-B14F-4D97-AF65-F5344CB8AC3E}">
        <p14:creationId xmlns:p14="http://schemas.microsoft.com/office/powerpoint/2010/main" val="3184348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308" y="219075"/>
            <a:ext cx="8596668" cy="1320800"/>
          </a:xfrm>
        </p:spPr>
        <p:txBody>
          <a:bodyPr/>
          <a:lstStyle/>
          <a:p>
            <a:r>
              <a:rPr lang="en-US" dirty="0"/>
              <a:t>Stress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08" y="904875"/>
            <a:ext cx="5069616" cy="930274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05858" y="1835149"/>
            <a:ext cx="10419292" cy="4660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Different Types of Stresses in Materials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1. Tensile Stress: Stress that tends to stretch a material, caused by axial pulling force.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2. Compressive Stress: Stress that compresses or shortens a material, caused by axial pushing force.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3. Shear Stress: Stress that acts parallel to the surface, causing layers to slide against each other.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4. Bending Stress:  Stress developed when a beam is subjected to bending moment, causing tension on one side and compression on the other.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5. Torsional Stress: Stress induced when a material is twisted by torque, producing shear stress along its cross-section.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213" y="4833040"/>
            <a:ext cx="3274232" cy="188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06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Strain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68" y="1270000"/>
            <a:ext cx="4486901" cy="8478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2543"/>
          <a:stretch/>
        </p:blipFill>
        <p:spPr>
          <a:xfrm>
            <a:off x="756723" y="2117844"/>
            <a:ext cx="7363853" cy="379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85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027" y="334716"/>
            <a:ext cx="6430272" cy="35342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27" y="3738353"/>
            <a:ext cx="666843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41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433432"/>
            <a:ext cx="8596668" cy="640360"/>
          </a:xfrm>
        </p:spPr>
        <p:txBody>
          <a:bodyPr/>
          <a:lstStyle/>
          <a:p>
            <a:r>
              <a:rPr lang="en-US" dirty="0"/>
              <a:t>Modulus of Elasticity (Young’s Modulus)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053" y="1073792"/>
            <a:ext cx="9649515" cy="4924337"/>
          </a:xfrm>
        </p:spPr>
        <p:txBody>
          <a:bodyPr>
            <a:noAutofit/>
          </a:bodyPr>
          <a:lstStyle/>
          <a:p>
            <a:r>
              <a:rPr lang="en-US" sz="1400" dirty="0" smtClean="0"/>
              <a:t>The </a:t>
            </a:r>
            <a:r>
              <a:rPr lang="en-US" sz="1400" b="1" dirty="0" smtClean="0"/>
              <a:t>modulus of elasticity</a:t>
            </a:r>
            <a:r>
              <a:rPr lang="en-US" sz="1400" dirty="0" smtClean="0"/>
              <a:t> (also called </a:t>
            </a:r>
            <a:r>
              <a:rPr lang="en-US" sz="1400" b="1" dirty="0" smtClean="0"/>
              <a:t>Young’s modulus</a:t>
            </a:r>
            <a:r>
              <a:rPr lang="en-US" sz="1400" dirty="0" smtClean="0"/>
              <a:t>) is a measure of a material’s </a:t>
            </a:r>
            <a:r>
              <a:rPr lang="en-US" sz="1400" b="1" dirty="0" smtClean="0"/>
              <a:t>stiffness</a:t>
            </a:r>
            <a:r>
              <a:rPr lang="en-US" sz="1400" dirty="0" smtClean="0"/>
              <a:t>.</a:t>
            </a:r>
            <a:br>
              <a:rPr lang="en-US" sz="1400" dirty="0" smtClean="0"/>
            </a:br>
            <a:r>
              <a:rPr lang="en-US" sz="1400" dirty="0" smtClean="0"/>
              <a:t>It tells us </a:t>
            </a:r>
            <a:r>
              <a:rPr lang="en-US" sz="1400" b="1" dirty="0" smtClean="0"/>
              <a:t>how much a material stretches or compresses when a force is applied</a:t>
            </a:r>
            <a:r>
              <a:rPr lang="en-US" sz="1400" dirty="0" smtClean="0"/>
              <a:t> </a:t>
            </a:r>
            <a:r>
              <a:rPr lang="en-US" sz="1400" i="1" dirty="0" smtClean="0"/>
              <a:t>as long as it stays within the elastic limit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pPr marL="0" indent="0" algn="ctr">
              <a:buNone/>
            </a:pPr>
            <a:r>
              <a:rPr lang="en-US" sz="1400" b="1" dirty="0" smtClean="0"/>
              <a:t>How hard it is to stretch a material.</a:t>
            </a:r>
          </a:p>
          <a:p>
            <a:pPr marL="0" indent="0">
              <a:buNone/>
            </a:pPr>
            <a:r>
              <a:rPr lang="en-US" sz="1400" b="1" dirty="0" smtClean="0"/>
              <a:t>Mathematically </a:t>
            </a:r>
          </a:p>
          <a:p>
            <a:pPr marL="0" indent="0" algn="ctr">
              <a:buNone/>
            </a:pPr>
            <a:r>
              <a:rPr lang="en-US" sz="1400" b="1" dirty="0" smtClean="0"/>
              <a:t>𝑌</a:t>
            </a:r>
            <a:r>
              <a:rPr lang="en-US" sz="1400" b="1" dirty="0"/>
              <a:t>=</a:t>
            </a:r>
            <a:r>
              <a:rPr lang="en-US" sz="1400" b="1" dirty="0" smtClean="0"/>
              <a:t>Stress / Strain</a:t>
            </a:r>
            <a:r>
              <a:rPr lang="en-US" sz="1400" b="1" dirty="0"/>
              <a:t>	</a:t>
            </a:r>
            <a:r>
              <a:rPr lang="en-US" sz="1400" b="1" dirty="0" smtClean="0"/>
              <a:t>​</a:t>
            </a:r>
          </a:p>
          <a:p>
            <a:pPr marL="0" indent="0">
              <a:buNone/>
            </a:pPr>
            <a:r>
              <a:rPr lang="en-US" sz="1400" b="1" dirty="0" smtClean="0"/>
              <a:t>Where:</a:t>
            </a:r>
          </a:p>
          <a:p>
            <a:pPr marL="0" indent="0">
              <a:buNone/>
            </a:pPr>
            <a:r>
              <a:rPr lang="en-US" sz="1400" b="1" dirty="0" smtClean="0"/>
              <a:t>Stress </a:t>
            </a:r>
            <a:r>
              <a:rPr lang="en-US" sz="1400" b="1" dirty="0"/>
              <a:t>=</a:t>
            </a:r>
            <a:r>
              <a:rPr lang="en-US" sz="1400" b="1" dirty="0" smtClean="0"/>
              <a:t>𝐹/𝐴</a:t>
            </a:r>
            <a:r>
              <a:rPr lang="en-US" sz="1400" b="1" dirty="0"/>
              <a:t>	​ (force per unit area</a:t>
            </a:r>
            <a:r>
              <a:rPr lang="en-US" sz="1400" b="1" dirty="0" smtClean="0"/>
              <a:t>)</a:t>
            </a:r>
          </a:p>
          <a:p>
            <a:pPr marL="0" indent="0">
              <a:buNone/>
            </a:pPr>
            <a:r>
              <a:rPr lang="en-US" sz="1400" b="1" dirty="0" smtClean="0"/>
              <a:t>Strain </a:t>
            </a:r>
            <a:r>
              <a:rPr lang="en-US" sz="1400" b="1" dirty="0"/>
              <a:t>=</a:t>
            </a:r>
            <a:r>
              <a:rPr lang="el-GR" sz="1400" b="1" dirty="0"/>
              <a:t>Δ</a:t>
            </a:r>
            <a:r>
              <a:rPr lang="el-GR" sz="1400" b="1" dirty="0" smtClean="0"/>
              <a:t>𝐿</a:t>
            </a:r>
            <a:r>
              <a:rPr lang="en-US" sz="1400" b="1" dirty="0" smtClean="0"/>
              <a:t>/</a:t>
            </a:r>
            <a:r>
              <a:rPr lang="el-GR" sz="1400" b="1" dirty="0" smtClean="0"/>
              <a:t>𝐿=</a:t>
            </a:r>
            <a:r>
              <a:rPr lang="en-US" sz="1400" b="1" dirty="0"/>
              <a:t>	​ (change in length / original length</a:t>
            </a:r>
            <a:r>
              <a:rPr lang="en-US" sz="1400" b="1" dirty="0" smtClean="0"/>
              <a:t>)</a:t>
            </a:r>
          </a:p>
          <a:p>
            <a:pPr marL="0" indent="0">
              <a:buNone/>
            </a:pPr>
            <a:r>
              <a:rPr lang="en-US" sz="1400" b="1" dirty="0" smtClean="0"/>
              <a:t>So,</a:t>
            </a:r>
          </a:p>
          <a:p>
            <a:pPr marL="0" indent="0" algn="ctr">
              <a:buNone/>
            </a:pPr>
            <a:r>
              <a:rPr lang="en-US" sz="1400" b="1" dirty="0" smtClean="0"/>
              <a:t>𝑌</a:t>
            </a:r>
            <a:r>
              <a:rPr lang="en-US" sz="1400" b="1" dirty="0"/>
              <a:t>=</a:t>
            </a:r>
            <a:r>
              <a:rPr lang="en-US" sz="1400" b="1" dirty="0" smtClean="0"/>
              <a:t>𝐹𝐿/𝐴</a:t>
            </a:r>
            <a:r>
              <a:rPr lang="el-GR" sz="1400" b="1" dirty="0"/>
              <a:t>Δ</a:t>
            </a:r>
            <a:r>
              <a:rPr lang="el-GR" sz="1400" b="1" dirty="0" smtClean="0"/>
              <a:t>𝐿</a:t>
            </a:r>
            <a:r>
              <a:rPr lang="en-US" sz="1400" b="1" dirty="0"/>
              <a:t>	</a:t>
            </a:r>
            <a:r>
              <a:rPr lang="en-US" sz="1400" b="1" dirty="0" smtClean="0"/>
              <a:t>​</a:t>
            </a:r>
          </a:p>
          <a:p>
            <a:r>
              <a:rPr lang="en-US" sz="1400" b="1" dirty="0" smtClean="0"/>
              <a:t>Unit: Pascal </a:t>
            </a:r>
            <a:r>
              <a:rPr lang="en-US" sz="1400" b="1" dirty="0"/>
              <a:t>(Pa)</a:t>
            </a:r>
            <a:r>
              <a:rPr lang="en-US" sz="1400" dirty="0"/>
              <a:t> or </a:t>
            </a:r>
            <a:r>
              <a:rPr lang="en-US" sz="1400" b="1" dirty="0" smtClean="0"/>
              <a:t>N/m²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smtClean="0"/>
              <a:t>High </a:t>
            </a:r>
            <a:r>
              <a:rPr lang="en-US" sz="1400" b="1" dirty="0"/>
              <a:t>Young’s modulus</a:t>
            </a:r>
            <a:r>
              <a:rPr lang="en-US" sz="1400" dirty="0"/>
              <a:t> → material is </a:t>
            </a:r>
            <a:r>
              <a:rPr lang="en-US" sz="1400" b="1" dirty="0"/>
              <a:t>stiff</a:t>
            </a:r>
            <a:r>
              <a:rPr lang="en-US" sz="1400" dirty="0"/>
              <a:t> (steel)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Low Young’s modulus</a:t>
            </a:r>
            <a:r>
              <a:rPr lang="en-US" sz="1400" dirty="0"/>
              <a:t> → material is </a:t>
            </a:r>
            <a:r>
              <a:rPr lang="en-US" sz="1400" b="1" dirty="0"/>
              <a:t>flexible</a:t>
            </a:r>
            <a:r>
              <a:rPr lang="en-US" sz="1400" dirty="0"/>
              <a:t> (rubber)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 algn="ctr">
              <a:buNone/>
            </a:pPr>
            <a:r>
              <a:rPr lang="en-US" sz="1600" b="1" dirty="0"/>
              <a:t>	​</a:t>
            </a:r>
          </a:p>
        </p:txBody>
      </p:sp>
    </p:spTree>
    <p:extLst>
      <p:ext uri="{BB962C8B-B14F-4D97-AF65-F5344CB8AC3E}">
        <p14:creationId xmlns:p14="http://schemas.microsoft.com/office/powerpoint/2010/main" val="3809630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6528"/>
          </a:xfrm>
        </p:spPr>
        <p:txBody>
          <a:bodyPr/>
          <a:lstStyle/>
          <a:p>
            <a:r>
              <a:rPr lang="en-US" dirty="0" smtClean="0"/>
              <a:t>Numerical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6129"/>
            <a:ext cx="10110908" cy="4615234"/>
          </a:xfrm>
        </p:spPr>
        <p:txBody>
          <a:bodyPr>
            <a:normAutofit/>
          </a:bodyPr>
          <a:lstStyle/>
          <a:p>
            <a:r>
              <a:rPr lang="en-US" sz="1400" b="1" dirty="0" smtClean="0"/>
              <a:t>Problem 1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A steel wire of length </a:t>
            </a:r>
            <a:r>
              <a:rPr lang="en-US" sz="1400" b="1" dirty="0"/>
              <a:t>2 m</a:t>
            </a:r>
            <a:r>
              <a:rPr lang="en-US" sz="1400" dirty="0"/>
              <a:t> and radius </a:t>
            </a:r>
            <a:r>
              <a:rPr lang="en-US" sz="1400" b="1" dirty="0"/>
              <a:t>0.5 mm</a:t>
            </a:r>
            <a:r>
              <a:rPr lang="en-US" sz="1400" dirty="0"/>
              <a:t> is stretched by a force of </a:t>
            </a:r>
            <a:r>
              <a:rPr lang="en-US" sz="1400" b="1" dirty="0"/>
              <a:t>100 </a:t>
            </a:r>
            <a:r>
              <a:rPr lang="en-US" sz="1400" b="1" dirty="0" smtClean="0"/>
              <a:t>N</a:t>
            </a:r>
            <a:r>
              <a:rPr lang="en-US" sz="1400" dirty="0" smtClean="0"/>
              <a:t>. If </a:t>
            </a:r>
            <a:r>
              <a:rPr lang="en-US" sz="1400" dirty="0"/>
              <a:t>the extension produced is </a:t>
            </a:r>
            <a:r>
              <a:rPr lang="en-US" sz="1400" b="1" dirty="0"/>
              <a:t>1 mm</a:t>
            </a:r>
            <a:r>
              <a:rPr lang="en-US" sz="1400" dirty="0"/>
              <a:t>, calculate </a:t>
            </a:r>
            <a:r>
              <a:rPr lang="en-US" sz="1400" b="1" dirty="0"/>
              <a:t>Young’s modulus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400" b="1" dirty="0" smtClean="0"/>
              <a:t>Given</a:t>
            </a:r>
          </a:p>
          <a:p>
            <a:pPr marL="0" indent="0">
              <a:buNone/>
            </a:pPr>
            <a:r>
              <a:rPr lang="en-US" sz="1400" dirty="0" smtClean="0"/>
              <a:t>𝐿</a:t>
            </a:r>
            <a:r>
              <a:rPr lang="en-US" sz="1400" dirty="0"/>
              <a:t>=2 </a:t>
            </a:r>
            <a:r>
              <a:rPr lang="en-US" sz="1400" dirty="0" smtClean="0"/>
              <a:t>𝑚;  𝑟</a:t>
            </a:r>
            <a:r>
              <a:rPr lang="en-US" sz="1400" dirty="0"/>
              <a:t>=0.5 𝑚𝑚=0.5×10−3 </a:t>
            </a:r>
            <a:r>
              <a:rPr lang="en-US" sz="1400" dirty="0" smtClean="0"/>
              <a:t>𝑚; 𝐹</a:t>
            </a:r>
            <a:r>
              <a:rPr lang="en-US" sz="1400" dirty="0"/>
              <a:t>=100 </a:t>
            </a:r>
            <a:r>
              <a:rPr lang="en-US" sz="1400" dirty="0" smtClean="0"/>
              <a:t>𝑁; </a:t>
            </a:r>
            <a:r>
              <a:rPr lang="el-GR" sz="1400" dirty="0" smtClean="0"/>
              <a:t>Δ</a:t>
            </a:r>
            <a:r>
              <a:rPr lang="el-GR" sz="1400" dirty="0"/>
              <a:t>𝐿=1 𝑚𝑚=1×10−3 </a:t>
            </a:r>
            <a:r>
              <a:rPr lang="el-GR" sz="1400" dirty="0" smtClean="0"/>
              <a:t>𝑚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b="1" dirty="0" smtClean="0"/>
              <a:t>Formula </a:t>
            </a:r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1400" b="1" dirty="0" smtClean="0"/>
              <a:t>Solution</a:t>
            </a:r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1400" b="1" dirty="0" smtClean="0"/>
              <a:t>Answer</a:t>
            </a:r>
            <a:endParaRPr lang="en-US" sz="1400" b="1" dirty="0"/>
          </a:p>
          <a:p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505" y="3152503"/>
            <a:ext cx="1029338" cy="7141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585" y="4136572"/>
            <a:ext cx="2100900" cy="1132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850" y="5575722"/>
            <a:ext cx="221963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40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914401"/>
            <a:ext cx="9210945" cy="5126962"/>
          </a:xfrm>
        </p:spPr>
        <p:txBody>
          <a:bodyPr/>
          <a:lstStyle/>
          <a:p>
            <a:r>
              <a:rPr lang="en-US" b="1" dirty="0"/>
              <a:t>Problem </a:t>
            </a:r>
            <a:r>
              <a:rPr lang="en-US" b="1" dirty="0" smtClean="0"/>
              <a:t>2</a:t>
            </a:r>
          </a:p>
          <a:p>
            <a:pPr marL="0" indent="0">
              <a:buNone/>
            </a:pPr>
            <a:r>
              <a:rPr lang="en-US" sz="1400" dirty="0"/>
              <a:t>A copper wire of length </a:t>
            </a:r>
            <a:r>
              <a:rPr lang="en-US" sz="1400" b="1" dirty="0"/>
              <a:t>1.5 m</a:t>
            </a:r>
            <a:r>
              <a:rPr lang="en-US" sz="1400" dirty="0"/>
              <a:t> and cross-sectional area </a:t>
            </a:r>
            <a:r>
              <a:rPr lang="en-US" sz="1400" b="1" dirty="0"/>
              <a:t>1 mm²</a:t>
            </a:r>
            <a:r>
              <a:rPr lang="en-US" sz="1400" dirty="0"/>
              <a:t> is subjected to a force of </a:t>
            </a:r>
            <a:r>
              <a:rPr lang="en-US" sz="1400" b="1" dirty="0"/>
              <a:t>50 </a:t>
            </a:r>
            <a:r>
              <a:rPr lang="en-US" sz="1400" b="1" dirty="0" smtClean="0"/>
              <a:t>N</a:t>
            </a:r>
            <a:r>
              <a:rPr lang="en-US" sz="1400" dirty="0" smtClean="0"/>
              <a:t>. If </a:t>
            </a:r>
            <a:r>
              <a:rPr lang="en-US" sz="1400" dirty="0"/>
              <a:t>Young’s modulus for copper is </a:t>
            </a:r>
            <a:r>
              <a:rPr lang="en-US" sz="1400" b="1" dirty="0"/>
              <a:t>110 </a:t>
            </a:r>
            <a:r>
              <a:rPr lang="en-US" sz="1400" b="1" dirty="0" err="1"/>
              <a:t>GPa</a:t>
            </a:r>
            <a:r>
              <a:rPr lang="en-US" sz="1400" dirty="0"/>
              <a:t>, find the </a:t>
            </a:r>
            <a:r>
              <a:rPr lang="en-US" sz="1400" b="1" dirty="0"/>
              <a:t>extension produced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endParaRPr lang="en-US" sz="1400" b="1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19" y="1933778"/>
            <a:ext cx="2097791" cy="12389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9" y="3053217"/>
            <a:ext cx="3622386" cy="11376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70" y="4095873"/>
            <a:ext cx="4334480" cy="14861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19" y="5581980"/>
            <a:ext cx="4020111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663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489099"/>
            <a:ext cx="9636247" cy="5552264"/>
          </a:xfrm>
        </p:spPr>
        <p:txBody>
          <a:bodyPr/>
          <a:lstStyle/>
          <a:p>
            <a:r>
              <a:rPr lang="en-US" sz="1400" b="1" dirty="0" smtClean="0"/>
              <a:t>Problem 3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A wire shows a strain of </a:t>
            </a:r>
            <a:r>
              <a:rPr lang="en-US" sz="1400" b="1" dirty="0"/>
              <a:t>0.002</a:t>
            </a:r>
            <a:r>
              <a:rPr lang="en-US" sz="1400" dirty="0"/>
              <a:t> when a stress of </a:t>
            </a:r>
            <a:r>
              <a:rPr lang="en-US" sz="1400" b="1" dirty="0"/>
              <a:t>400 MPa</a:t>
            </a:r>
            <a:r>
              <a:rPr lang="en-US" sz="1400" dirty="0"/>
              <a:t> is </a:t>
            </a:r>
            <a:r>
              <a:rPr lang="en-US" sz="1400" dirty="0" smtClean="0"/>
              <a:t>applied. Calculate </a:t>
            </a:r>
            <a:r>
              <a:rPr lang="en-US" sz="1400" b="1" dirty="0"/>
              <a:t>Young’s modulus</a:t>
            </a:r>
            <a:r>
              <a:rPr lang="en-US" sz="1400" dirty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45" y="1205287"/>
            <a:ext cx="3134162" cy="9812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99" y="2049684"/>
            <a:ext cx="4572638" cy="10574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45" y="3130772"/>
            <a:ext cx="4839375" cy="1419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76" y="4667692"/>
            <a:ext cx="4563112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60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084" y="1074739"/>
            <a:ext cx="8596668" cy="3880773"/>
          </a:xfrm>
        </p:spPr>
        <p:txBody>
          <a:bodyPr>
            <a:normAutofit/>
          </a:bodyPr>
          <a:lstStyle/>
          <a:p>
            <a:r>
              <a:rPr lang="en-US" sz="1400" b="1" dirty="0" smtClean="0"/>
              <a:t>Problem 4</a:t>
            </a:r>
          </a:p>
          <a:p>
            <a:pPr marL="0" indent="0">
              <a:buNone/>
            </a:pPr>
            <a:r>
              <a:rPr lang="en-US" sz="1400" b="1" dirty="0" smtClean="0"/>
              <a:t>A </a:t>
            </a:r>
            <a:r>
              <a:rPr lang="en-US" sz="1400" b="1" dirty="0"/>
              <a:t>copper wire of length 2.5m has a percentage strain of 0.012% under a tensile force. Calculate the extension in the </a:t>
            </a:r>
            <a:r>
              <a:rPr lang="en-US" sz="1400" b="1" dirty="0" smtClean="0"/>
              <a:t>wire</a:t>
            </a:r>
          </a:p>
          <a:p>
            <a:pPr marL="0" indent="0" fontAlgn="base">
              <a:buNone/>
            </a:pPr>
            <a:r>
              <a:rPr lang="en-US" sz="1400" i="1" dirty="0"/>
              <a:t>Given that, The original length is 2.5 m</a:t>
            </a:r>
          </a:p>
          <a:p>
            <a:pPr marL="0" indent="0" fontAlgn="base">
              <a:buNone/>
            </a:pPr>
            <a:r>
              <a:rPr lang="en-US" sz="1400" i="1" dirty="0"/>
              <a:t>Strain = △L/L = 0.012 %</a:t>
            </a:r>
          </a:p>
          <a:p>
            <a:pPr marL="0" indent="0" fontAlgn="base">
              <a:buNone/>
            </a:pPr>
            <a:r>
              <a:rPr lang="en-US" sz="1400" i="1" dirty="0"/>
              <a:t>Strain  = 0.012/100</a:t>
            </a:r>
          </a:p>
          <a:p>
            <a:pPr marL="0" indent="0" fontAlgn="base">
              <a:buNone/>
            </a:pPr>
            <a:r>
              <a:rPr lang="en-US" sz="1400" i="1" dirty="0"/>
              <a:t>△L = (0.012/100) x 2.5</a:t>
            </a:r>
          </a:p>
          <a:p>
            <a:pPr marL="0" indent="0" fontAlgn="base">
              <a:buNone/>
            </a:pPr>
            <a:r>
              <a:rPr lang="en-US" sz="1400" i="1" dirty="0"/>
              <a:t>△L = 0.3 m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45008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05884" y="1256996"/>
            <a:ext cx="9019116" cy="3447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buClrTx/>
              <a:buSzTx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Problem 5</a:t>
            </a:r>
            <a:r>
              <a:rPr kumimoji="0" lang="en-US" altLang="en-US" sz="1400" b="1" i="0" u="none" strike="noStrike" cap="none" normalizeH="0" dirty="0" smtClean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 </a:t>
            </a:r>
          </a:p>
          <a:p>
            <a:pPr marL="0" indent="0" defTabSz="914400">
              <a:buClrTx/>
              <a:buSzTx/>
              <a:buNone/>
            </a:pPr>
            <a:endParaRPr lang="en-US" altLang="en-US" sz="1400" b="1" baseline="0" dirty="0">
              <a:solidFill>
                <a:srgbClr val="273239"/>
              </a:solidFill>
              <a:latin typeface="+mn-lt"/>
            </a:endParaRP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Given the deforming force as 150 N applied on a body of area of cross-section as 10 m</a:t>
            </a:r>
            <a:r>
              <a:rPr kumimoji="0" lang="en-US" altLang="en-US" sz="1400" b="1" i="0" u="none" strike="noStrike" cap="none" normalizeH="0" baseline="30000" dirty="0" smtClean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2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. Calculate the stress in the body.</a:t>
            </a:r>
          </a:p>
          <a:p>
            <a:pPr marL="0" indent="0" defTabSz="914400">
              <a:buClrTx/>
              <a:buSzTx/>
              <a:buNone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Solution:</a:t>
            </a:r>
          </a:p>
          <a:p>
            <a:pPr marL="0" indent="0" defTabSz="914400">
              <a:buClrTx/>
              <a:buSzTx/>
              <a:buNone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Given that,</a:t>
            </a:r>
          </a:p>
          <a:p>
            <a:pPr marL="0" indent="0" defTabSz="914400">
              <a:buClrTx/>
              <a:buSzTx/>
              <a:buNone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Stress = Deforming force / Area of the body</a:t>
            </a: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Stress = F/A</a:t>
            </a: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Stress = 150/10</a:t>
            </a:r>
          </a:p>
          <a:p>
            <a:pPr marL="0" indent="0" defTabSz="914400">
              <a:buClrTx/>
              <a:buSzTx/>
              <a:buNone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Stress =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15 N/m</a:t>
            </a:r>
            <a:r>
              <a:rPr kumimoji="0" lang="en-US" altLang="en-US" sz="1400" b="1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 defTabSz="914400">
              <a:buClrTx/>
              <a:buSzTx/>
              <a:buNone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8703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Bending of Beam</a:t>
            </a:r>
            <a:endParaRPr lang="en-US" dirty="0"/>
          </a:p>
        </p:txBody>
      </p:sp>
      <p:pic>
        <p:nvPicPr>
          <p:cNvPr id="1026" name="Picture 2" descr="How to Calculate Bending Stress - iLearn Engineering®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8578"/>
          <a:stretch/>
        </p:blipFill>
        <p:spPr bwMode="auto">
          <a:xfrm>
            <a:off x="3200400" y="3826922"/>
            <a:ext cx="2409825" cy="120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32" y="1311188"/>
            <a:ext cx="7068536" cy="1238423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7784" y="2673262"/>
            <a:ext cx="675216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Top part of the beam → gets squeezed (compression)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Bottom part of the beam → gets stretched (tension)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Middle layer → does not change length → called neutral axis</a:t>
            </a:r>
          </a:p>
        </p:txBody>
      </p:sp>
    </p:spTree>
    <p:extLst>
      <p:ext uri="{BB962C8B-B14F-4D97-AF65-F5344CB8AC3E}">
        <p14:creationId xmlns:p14="http://schemas.microsoft.com/office/powerpoint/2010/main" val="731731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Deflection Formula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bend occurs </a:t>
            </a:r>
            <a:r>
              <a:rPr lang="en-US" b="1" dirty="0"/>
              <a:t>at the middle</a:t>
            </a:r>
            <a:endParaRPr lang="en-US" dirty="0"/>
          </a:p>
          <a:p>
            <a:r>
              <a:rPr lang="en-US" dirty="0"/>
              <a:t>Beam returns to original shape if weight is small (elastic limit)</a:t>
            </a:r>
          </a:p>
          <a:p>
            <a:r>
              <a:rPr lang="en-US" dirty="0"/>
              <a:t>Formula to find how much it bends (deflection):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84" y="3857479"/>
            <a:ext cx="4877481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70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Cantilever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56" y="2833584"/>
            <a:ext cx="7335274" cy="1476581"/>
          </a:xfrm>
          <a:prstGeom prst="rect">
            <a:avLst/>
          </a:prstGeom>
        </p:spPr>
      </p:pic>
      <p:pic>
        <p:nvPicPr>
          <p:cNvPr id="6" name="Picture 2" descr="How to Calculate Bending Stress - iLearn Engineering®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25" r="204"/>
          <a:stretch/>
        </p:blipFill>
        <p:spPr bwMode="auto">
          <a:xfrm>
            <a:off x="5395024" y="4590492"/>
            <a:ext cx="2739326" cy="146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2+ Thousand Cantilever Beam Royalty-Free Images, Stock Photos ...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757" y="4169906"/>
            <a:ext cx="3101693" cy="259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6725" y="1270000"/>
            <a:ext cx="8210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solidFill>
                  <a:srgbClr val="1A1A1A"/>
                </a:solidFill>
              </a:rPr>
              <a:t>Cantilever</a:t>
            </a:r>
            <a:r>
              <a:rPr lang="en-US" dirty="0">
                <a:solidFill>
                  <a:srgbClr val="1A1A1A"/>
                </a:solidFill>
              </a:rPr>
              <a:t>,</a:t>
            </a:r>
            <a:r>
              <a:rPr lang="en-US" dirty="0"/>
              <a:t> </a:t>
            </a:r>
            <a:r>
              <a:rPr lang="en-US" dirty="0" smtClean="0"/>
              <a:t>beam</a:t>
            </a:r>
            <a:r>
              <a:rPr lang="en-US" dirty="0"/>
              <a:t> supported at one end and carrying a load at the other end or distributed along the unsupported portion. The upper half of the thickness of such </a:t>
            </a:r>
            <a:r>
              <a:rPr lang="en-US" dirty="0" smtClean="0"/>
              <a:t>beam</a:t>
            </a:r>
            <a:r>
              <a:rPr lang="en-US" dirty="0"/>
              <a:t> is subjected to tensile stress, tending to elongate the </a:t>
            </a:r>
            <a:r>
              <a:rPr lang="en-US" dirty="0" smtClean="0"/>
              <a:t>fibers, </a:t>
            </a:r>
            <a:r>
              <a:rPr lang="en-US" dirty="0"/>
              <a:t>the lower half to compressive stress, tending to crush them.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024" y="2706938"/>
            <a:ext cx="2495806" cy="102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98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2912" y="2533650"/>
            <a:ext cx="3944638" cy="205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4751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368</TotalTime>
  <Words>1355</Words>
  <Application>Microsoft Office PowerPoint</Application>
  <PresentationFormat>Widescreen</PresentationFormat>
  <Paragraphs>321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Trebuchet MS</vt:lpstr>
      <vt:lpstr>Wingdings</vt:lpstr>
      <vt:lpstr>Wingdings 3</vt:lpstr>
      <vt:lpstr>Facet</vt:lpstr>
      <vt:lpstr>Lecture 1</vt:lpstr>
      <vt:lpstr>WHAT IS PHYSICS</vt:lpstr>
      <vt:lpstr>From Where Did Physics Emerge? </vt:lpstr>
      <vt:lpstr>Types (Branches) of Physics</vt:lpstr>
      <vt:lpstr>Continue</vt:lpstr>
      <vt:lpstr>Role of Applied Physics</vt:lpstr>
      <vt:lpstr>Properties of Matter</vt:lpstr>
      <vt:lpstr>PowerPoint Presentation</vt:lpstr>
      <vt:lpstr>Physical Properties</vt:lpstr>
      <vt:lpstr>Thermal Property</vt:lpstr>
      <vt:lpstr>Electrical Properties of Matter</vt:lpstr>
      <vt:lpstr>Magnetic Properties of Matter</vt:lpstr>
      <vt:lpstr>Optical Properties of Matter</vt:lpstr>
      <vt:lpstr>Chemical Properties of Matter</vt:lpstr>
      <vt:lpstr>Mechanical Properties</vt:lpstr>
      <vt:lpstr>Quick Summary</vt:lpstr>
      <vt:lpstr>Elasticity </vt:lpstr>
      <vt:lpstr>Hook’s Law</vt:lpstr>
      <vt:lpstr>Stress</vt:lpstr>
      <vt:lpstr>Strain</vt:lpstr>
      <vt:lpstr>PowerPoint Presentation</vt:lpstr>
      <vt:lpstr>Modulus of Elasticity (Young’s Modulus)</vt:lpstr>
      <vt:lpstr>Numerical</vt:lpstr>
      <vt:lpstr>PowerPoint Presentation</vt:lpstr>
      <vt:lpstr>PowerPoint Presentation</vt:lpstr>
      <vt:lpstr>PowerPoint Presentation</vt:lpstr>
      <vt:lpstr>PowerPoint Presentation</vt:lpstr>
      <vt:lpstr>Bending of Beam</vt:lpstr>
      <vt:lpstr>Deflection Formula </vt:lpstr>
      <vt:lpstr>Cantilever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Amna Sheikh \ Research &amp; Teaching Associate</dc:creator>
  <cp:lastModifiedBy>Amna Sheikh \ Research &amp; Teaching Associate</cp:lastModifiedBy>
  <cp:revision>21</cp:revision>
  <dcterms:created xsi:type="dcterms:W3CDTF">2026-01-22T08:38:58Z</dcterms:created>
  <dcterms:modified xsi:type="dcterms:W3CDTF">2026-02-06T05:26:42Z</dcterms:modified>
</cp:coreProperties>
</file>